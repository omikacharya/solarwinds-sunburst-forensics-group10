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71930"/>
          </a:solidFill>
          <a:ln>
            <a:solidFill>
              <a:srgbClr val="A7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omaiy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3108960" cy="1038483"/>
          </a:xfrm>
          <a:prstGeom prst="rect">
            <a:avLst/>
          </a:prstGeom>
        </p:spPr>
      </p:pic>
      <p:pic>
        <p:nvPicPr>
          <p:cNvPr id="4" name="Picture 3" descr="somaiya_t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457200"/>
            <a:ext cx="1097280" cy="819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508760"/>
            <a:ext cx="107899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71930"/>
                </a:solidFill>
                <a:latin typeface="Arial"/>
              </a:defRPr>
            </a:pPr>
            <a:r>
              <a:t>DEPARTMENT OF COMPUTER ENGINEERING | CAPSTONE EVALUATION (20 MARKS)</a:t>
            </a:r>
          </a:p>
          <a:p>
            <a:pPr>
              <a:spcBef>
                <a:spcPts val="400"/>
              </a:spcBef>
              <a:defRPr sz="2400" b="1">
                <a:solidFill>
                  <a:srgbClr val="1E293B"/>
                </a:solidFill>
                <a:latin typeface="Arial"/>
              </a:defRPr>
            </a:pPr>
            <a:r>
              <a:t>Operation SUNBURST: Digital Forensic Investigation &amp; Incident Response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Static Reverse Engineering, Defense Evasion Analysis, Memory Artifacts &amp; Indian Statutory Admissibility under Bharatiya Sakshya Adhiniyam, 2023 &amp; CERT-In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10789920" cy="18288"/>
          </a:xfrm>
          <a:prstGeom prst="rect">
            <a:avLst/>
          </a:prstGeom>
          <a:solidFill>
            <a:srgbClr val="A71930"/>
          </a:solidFill>
          <a:ln>
            <a:solidFill>
              <a:srgbClr val="A7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474720"/>
          <a:ext cx="107899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926080"/>
                <a:gridCol w="3931920"/>
              </a:tblGrid>
              <a:tr h="42291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Roll Number</a:t>
                      </a:r>
                    </a:p>
                  </a:txBody>
                  <a:tcPr>
                    <a:solidFill>
                      <a:srgbClr val="A7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Student Name</a:t>
                      </a:r>
                    </a:p>
                  </a:txBody>
                  <a:tcPr>
                    <a:solidFill>
                      <a:srgbClr val="A7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Assigned Forensic Role</a:t>
                      </a:r>
                    </a:p>
                  </a:txBody>
                  <a:tcPr>
                    <a:solidFill>
                      <a:srgbClr val="A7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Core Investigation Focus</a:t>
                      </a:r>
                    </a:p>
                  </a:txBody>
                  <a:tcPr>
                    <a:solidFill>
                      <a:srgbClr val="A71930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16010123036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Amandeep Singh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Lead Forensic Investigator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Attack Vector, PE Architecture &amp; DiE Triage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16010123218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Omik Acharya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Reverse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FLOSS Deobfuscation, FNV-1a Hashing &amp; CAPA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16010123216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Om Lanke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Technical &amp; Cyber Legal Auditor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BSA 2023 Sec 63, IT Act, CERT-In &amp; CI/CD Pipeline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440680"/>
            <a:ext cx="10789920" cy="68580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04688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40AF"/>
                </a:solidFill>
                <a:latin typeface="Arial"/>
              </a:defRPr>
            </a:pPr>
            <a:r>
              <a:t>🎯 DUAL DEMONSTRATION MODEL (10-MINUTE SYNCHRONIZED RUN):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  <a:latin typeface="Arial"/>
              </a:defRPr>
            </a:pPr>
            <a:r>
              <a:t>Left / Presentation Screen: Theoretical Case Study, Supply Chain Mechanics, MITRE ATT&amp;CK &amp; Legal Statutes. Side-by-Side Screen: Live Terminal Commands, Interactive Browser Simulation (sunburst_simulation.html), &amp; Forensic Code Execution.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825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Somaiya Vidyavihar University — K.J. Somaiya School of Engineering | TY B.Tech COMP (2026–2027) | Group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1930"/>
          </a:solidFill>
          <a:ln>
            <a:solidFill>
              <a:srgbClr val="A7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omaiy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56032"/>
            <a:ext cx="2423160" cy="8094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28600"/>
            <a:ext cx="8412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71930"/>
                </a:solidFill>
                <a:latin typeface="Arial"/>
              </a:defRPr>
            </a:pPr>
            <a:r>
              <a:t>K.J. SOMAIYA SCHOOL OF ENGINEERING | INCIDENT BACKGROUND &amp; THREAT CONTEXT</a:t>
            </a:r>
          </a:p>
          <a:p>
            <a:pPr>
              <a:spcBef>
                <a:spcPts val="200"/>
              </a:spcBef>
              <a:defRPr sz="2000" b="1">
                <a:solidFill>
                  <a:srgbClr val="1E293B"/>
                </a:solidFill>
                <a:latin typeface="Arial"/>
              </a:defRPr>
            </a:pPr>
            <a:r>
              <a:t>The Supply Chain Vector: SolarWinds Orion Compromise</a:t>
            </a:r>
          </a:p>
          <a:p>
            <a:pPr>
              <a:spcBef>
                <a:spcPts val="200"/>
              </a:spcBef>
              <a:defRPr sz="1050" b="0">
                <a:solidFill>
                  <a:srgbClr val="64748B"/>
                </a:solidFill>
                <a:latin typeface="Arial"/>
              </a:defRPr>
            </a:pPr>
            <a:r>
              <a:t>🎤 Amandeep Singh (Lead Investigator) | Time: 0:00 – 1:15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Somaiya Vidyavihar University — Digital Forensics &amp; Cyber Security Laboratory (Capstone Evaluation — 20 Marks) | Group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82512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A71930"/>
                </a:solidFill>
                <a:latin typeface="Arial"/>
              </a:defRPr>
            </a:pPr>
            <a:r>
              <a:t>Slide 2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70408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71930"/>
                </a:solidFill>
                <a:latin typeface="Arial"/>
              </a:defRPr>
            </a:pPr>
            <a:r>
              <a:t>CASE STUDY: OPERATION SUNBURST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Threat Actor: </a:t>
            </a:r>
            <a:r>
              <a:rPr b="0">
                <a:solidFill>
                  <a:srgbClr val="475569"/>
                </a:solidFill>
              </a:rPr>
              <a:t>APT29 / Nobelium (Russian Foreign Intelligence Service — SVR).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Compromise Point: </a:t>
            </a:r>
            <a:r>
              <a:rPr b="0">
                <a:solidFill>
                  <a:srgbClr val="475569"/>
                </a:solidFill>
              </a:rPr>
              <a:t>SolarWinds software build environment injected at the MSBuild compilation stage via a rogue plugin named 'SolariCode'.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Trojanized Artifact: </a:t>
            </a:r>
            <a:r>
              <a:rPr b="0">
                <a:solidFill>
                  <a:srgbClr val="475569"/>
                </a:solidFill>
              </a:rPr>
              <a:t>SolarWinds.Orion.Core.BusinessLayer.dll (v2019.4 through v2020.2.1), legitimate network monitoring platform component.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Distribution Vector: </a:t>
            </a:r>
            <a:r>
              <a:rPr b="0">
                <a:solidFill>
                  <a:srgbClr val="475569"/>
                </a:solidFill>
              </a:rPr>
              <a:t>Digitally signed updates pushed automatically to over 18,000 public and private organizations globally.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Target Scope: </a:t>
            </a:r>
            <a:r>
              <a:rPr b="0">
                <a:solidFill>
                  <a:srgbClr val="475569"/>
                </a:solidFill>
              </a:rPr>
              <a:t>U.S. Dept of Homeland Security, Treasury, Fortune 500 tech leaders, and critical global communications nodes.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Investigation Paradigm: </a:t>
            </a:r>
            <a:r>
              <a:rPr b="0">
                <a:solidFill>
                  <a:srgbClr val="475569"/>
                </a:solidFill>
              </a:rPr>
              <a:t>Dual-track analysis: Case Study theory on slides paired side-by-side with live forensic scripts and simulation.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63040"/>
            <a:ext cx="3840480" cy="466344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600200"/>
            <a:ext cx="34747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Arial"/>
              </a:defRPr>
            </a:pPr>
            <a:r>
              <a:t>🖥️ SIDE-BY-SIDE LIVE DEMO SYNC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Tool / Target: Interactive Forensic Simulation (Stage 1)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Screen / Window: </a:t>
            </a:r>
            <a:r>
              <a:rPr b="0">
                <a:solidFill>
                  <a:srgbClr val="1E293B"/>
                </a:solidFill>
              </a:rPr>
              <a:t>Web Browser (Google Chrome / Safari)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Execution Action: </a:t>
            </a:r>
            <a:r>
              <a:rPr b="0">
                <a:solidFill>
                  <a:srgbClr val="1E293B"/>
                </a:solidFill>
              </a:rPr>
              <a:t>Open docs/sunburst_simulation.html -&gt; View 'The Attack' animated architecture diagram.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Expected Visual: </a:t>
            </a:r>
            <a:r>
              <a:rPr b="0">
                <a:solidFill>
                  <a:srgbClr val="1E293B"/>
                </a:solidFill>
              </a:rPr>
              <a:t>Visualizes how attackers breached the build pipeline, injected the backdoor into Orion DLL, and pushed it downstream to 18,000 victim organizations.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1930"/>
          </a:solidFill>
          <a:ln>
            <a:solidFill>
              <a:srgbClr val="A7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omaiy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56032"/>
            <a:ext cx="2423160" cy="8094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28600"/>
            <a:ext cx="8412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71930"/>
                </a:solidFill>
                <a:latin typeface="Arial"/>
              </a:defRPr>
            </a:pPr>
            <a:r>
              <a:t>K.J. SOMAIYA SCHOOL OF ENGINEERING | FORENSIC METHODOLOGY &amp; EVIDENCE INTEGRITY</a:t>
            </a:r>
          </a:p>
          <a:p>
            <a:pPr>
              <a:spcBef>
                <a:spcPts val="200"/>
              </a:spcBef>
              <a:defRPr sz="2000" b="1">
                <a:solidFill>
                  <a:srgbClr val="1E293B"/>
                </a:solidFill>
                <a:latin typeface="Arial"/>
              </a:defRPr>
            </a:pPr>
            <a:r>
              <a:t>Evidence Ingestion &amp; Dual SHA-256 Hash Verification</a:t>
            </a:r>
          </a:p>
          <a:p>
            <a:pPr>
              <a:spcBef>
                <a:spcPts val="200"/>
              </a:spcBef>
              <a:defRPr sz="1050" b="0">
                <a:solidFill>
                  <a:srgbClr val="64748B"/>
                </a:solidFill>
                <a:latin typeface="Arial"/>
              </a:defRPr>
            </a:pPr>
            <a:r>
              <a:t>🎤 Amandeep Singh (Lead Investigator) | Time: 1:15 – 2:00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Somaiya Vidyavihar University — Digital Forensics &amp; Cyber Security Laboratory (Capstone Evaluation — 20 Marks) | Group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82512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A71930"/>
                </a:solidFill>
                <a:latin typeface="Arial"/>
              </a:defRPr>
            </a:pPr>
            <a:r>
              <a:t>Slide 3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70408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71930"/>
                </a:solidFill>
                <a:latin typeface="Arial"/>
              </a:defRPr>
            </a:pPr>
            <a:r>
              <a:t>EVIDENCE HANDLING &amp; ISO/IEC 27037:2012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Evidence Standard: </a:t>
            </a:r>
            <a:r>
              <a:rPr b="0">
                <a:solidFill>
                  <a:srgbClr val="475569"/>
                </a:solidFill>
              </a:rPr>
              <a:t>Strict adherence to ISO/IEC 27037:2012 (Guidelines for identification, collection, acquisition, and preservation of digital evidence).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Dual-Sample Architecture: </a:t>
            </a:r>
            <a:r>
              <a:rPr b="0">
                <a:solidFill>
                  <a:srgbClr val="475569"/>
                </a:solidFill>
              </a:rPr>
              <a:t>Evaluator and benchmark samples cross-referenced in evidence/evidence_metadata.json to prevent false attribution.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Primary Sample SHA-256: </a:t>
            </a:r>
            <a:r>
              <a:rPr b="0">
                <a:solidFill>
                  <a:srgbClr val="475569"/>
                </a:solidFill>
              </a:rPr>
              <a:t>325c9b6ac0f441e66183579b2e00b181fc083423b009ac4800f4f05247cf0d25 (Standard malicious DLL manifest).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Benchmark Sample SHA-256: </a:t>
            </a:r>
            <a:r>
              <a:rPr b="0">
                <a:solidFill>
                  <a:srgbClr val="475569"/>
                </a:solidFill>
              </a:rPr>
              <a:t>32519b85c0b422187d7d490004e3ab63314439cda2d0fb812999645017226d7e (Alternate Orion core iteration).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Integrity Enforcement: </a:t>
            </a:r>
            <a:r>
              <a:rPr b="0">
                <a:solidFill>
                  <a:srgbClr val="475569"/>
                </a:solidFill>
              </a:rPr>
              <a:t>scripts/verify_hashes.sh executes POSIX-compliant sha256sum verification before any forensic analysis begins.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Legal Chain of Custody: </a:t>
            </a:r>
            <a:r>
              <a:rPr b="0">
                <a:solidFill>
                  <a:srgbClr val="475569"/>
                </a:solidFill>
              </a:rPr>
              <a:t>Continuous non-repudiation logging documented in evidence/chain_of_custody.md with timestamped cryptographic attestations.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63040"/>
            <a:ext cx="3840480" cy="466344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600200"/>
            <a:ext cx="34747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Arial"/>
              </a:defRPr>
            </a:pPr>
            <a:r>
              <a:t>🖥️ SIDE-BY-SIDE LIVE DEMO SYNC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Tool / Target: Cryptographic Verification Engine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Screen / Window: </a:t>
            </a:r>
            <a:r>
              <a:rPr b="0">
                <a:solidFill>
                  <a:srgbClr val="1E293B"/>
                </a:solidFill>
              </a:rPr>
              <a:t>Terminal (macOS zsh / bash)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Execution Action: </a:t>
            </a:r>
            <a:r>
              <a:rPr b="0">
                <a:solidFill>
                  <a:srgbClr val="1E293B"/>
                </a:solidFill>
              </a:rPr>
              <a:t>bash scripts/verify_hashes.sh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Expected Visual: </a:t>
            </a:r>
            <a:r>
              <a:rPr b="0">
                <a:solidFill>
                  <a:srgbClr val="1E293B"/>
                </a:solidFill>
              </a:rPr>
              <a:t>Displays formatted green [PASS] indicator validating dual SHA-256 integrity against evidence/sample_hashes.sha256, proving evidence has zero bitwise tampering.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1930"/>
          </a:solidFill>
          <a:ln>
            <a:solidFill>
              <a:srgbClr val="A7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omaiy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56032"/>
            <a:ext cx="2423160" cy="8094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28600"/>
            <a:ext cx="8412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71930"/>
                </a:solidFill>
                <a:latin typeface="Arial"/>
              </a:defRPr>
            </a:pPr>
            <a:r>
              <a:t>K.J. SOMAIYA SCHOOL OF ENGINEERING | STATIC PE TRIAGE &amp; ARCHITECTURE</a:t>
            </a:r>
          </a:p>
          <a:p>
            <a:pPr>
              <a:spcBef>
                <a:spcPts val="200"/>
              </a:spcBef>
              <a:defRPr sz="2000" b="1">
                <a:solidFill>
                  <a:srgbClr val="1E293B"/>
                </a:solidFill>
                <a:latin typeface="Arial"/>
              </a:defRPr>
            </a:pPr>
            <a:r>
              <a:t>PE32 Header Inspection &amp; Shannon Entropy Profiling</a:t>
            </a:r>
          </a:p>
          <a:p>
            <a:pPr>
              <a:spcBef>
                <a:spcPts val="200"/>
              </a:spcBef>
              <a:defRPr sz="1050" b="0">
                <a:solidFill>
                  <a:srgbClr val="64748B"/>
                </a:solidFill>
                <a:latin typeface="Arial"/>
              </a:defRPr>
            </a:pPr>
            <a:r>
              <a:t>🎤 Amandeep Singh (Lead Investigator) | Time: 2:00 – 3:00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Somaiya Vidyavihar University — Digital Forensics &amp; Cyber Security Laboratory (Capstone Evaluation — 20 Marks) | Group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82512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A71930"/>
                </a:solidFill>
                <a:latin typeface="Arial"/>
              </a:defRPr>
            </a:pPr>
            <a:r>
              <a:t>Slide 4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70408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71930"/>
                </a:solidFill>
                <a:latin typeface="Arial"/>
              </a:defRPr>
            </a:pPr>
            <a:r>
              <a:t>DETECT IT EASY (DiE v3.10) TRIAGE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Binary Architecture: </a:t>
            </a:r>
            <a:r>
              <a:rPr b="0">
                <a:solidFill>
                  <a:srgbClr val="475569"/>
                </a:solidFill>
              </a:rPr>
              <a:t>PE32 Dynamic Link Library (Intel 80386 32-bit), Microsoft .NET CLR v4.0.30319 (COMIMAGE_FLAGS_ILONLY).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Compiler Toolchain: </a:t>
            </a:r>
            <a:r>
              <a:rPr b="0">
                <a:solidFill>
                  <a:srgbClr val="475569"/>
                </a:solidFill>
              </a:rPr>
              <a:t>Microsoft Roslyn C# (Visual Studio 2019) with fully intact Microsoft Intermediate Language (MSIL) metadata.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Authenticode Signature: </a:t>
            </a:r>
            <a:r>
              <a:rPr b="0">
                <a:solidFill>
                  <a:srgbClr val="475569"/>
                </a:solidFill>
              </a:rPr>
              <a:t>Legitimate digital signature issued by DigiCert Inc to SolarWinds Worldwide, LLC (Serial: 0d 44 4d 63 f5 84 68 86 11 18 01 4b d8 a7 62 1e).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Section Entropy Metrics: </a:t>
            </a:r>
            <a:r>
              <a:rPr b="0">
                <a:solidFill>
                  <a:srgbClr val="475569"/>
                </a:solidFill>
              </a:rPr>
              <a:t>.text = 6.21 (Roslyn C# bytecode) | .rsrc = 7.14 (Embedded resources) | .reloc = 0.11. Overall entropy: ~5.9.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Anti-Analysis Stealth: </a:t>
            </a:r>
            <a:r>
              <a:rPr b="0">
                <a:solidFill>
                  <a:srgbClr val="475569"/>
                </a:solidFill>
              </a:rPr>
              <a:t>Remained strictly below the 7.5 packed threshold. The attackers deliberately refrained from using UPX or Themida packers.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Forensic Significance: </a:t>
            </a:r>
            <a:r>
              <a:rPr b="0">
                <a:solidFill>
                  <a:srgbClr val="475569"/>
                </a:solidFill>
              </a:rPr>
              <a:t>Because entropy remained normal and signature was authentic, antivirus heuristic scanners classified the binary as completely benign.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63040"/>
            <a:ext cx="3840480" cy="466344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600200"/>
            <a:ext cx="34747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Arial"/>
              </a:defRPr>
            </a:pPr>
            <a:r>
              <a:t>🖥️ SIDE-BY-SIDE LIVE DEMO SYNC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Tool / Target: Detect It Easy (DiE) Visualizer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Screen / Window: </a:t>
            </a:r>
            <a:r>
              <a:rPr b="0">
                <a:solidFill>
                  <a:srgbClr val="1E293B"/>
                </a:solidFill>
              </a:rPr>
              <a:t>Web Browser (docs/sunburst_simulation.html)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Execution Action: </a:t>
            </a:r>
            <a:r>
              <a:rPr b="0">
                <a:solidFill>
                  <a:srgbClr val="1E293B"/>
                </a:solidFill>
              </a:rPr>
              <a:t>Navigate to Stage 4 ('Detect It Easy') -&gt; Observe live beam scan across PE sections.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Expected Visual: </a:t>
            </a:r>
            <a:r>
              <a:rPr b="0">
                <a:solidFill>
                  <a:srgbClr val="1E293B"/>
                </a:solidFill>
              </a:rPr>
              <a:t>Displays real-time section layout (.text 58%, .rsrc 17%, .reloc 4%), compiler detection, and interactive Shannon entropy curve staying safely below 7.5.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1930"/>
          </a:solidFill>
          <a:ln>
            <a:solidFill>
              <a:srgbClr val="A7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omaiy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56032"/>
            <a:ext cx="2423160" cy="8094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28600"/>
            <a:ext cx="8412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71930"/>
                </a:solidFill>
                <a:latin typeface="Arial"/>
              </a:defRPr>
            </a:pPr>
            <a:r>
              <a:t>K.J. SOMAIYA SCHOOL OF ENGINEERING | ATTACK RECONSTRUCTION &amp; TIMELINE</a:t>
            </a:r>
          </a:p>
          <a:p>
            <a:pPr>
              <a:spcBef>
                <a:spcPts val="200"/>
              </a:spcBef>
              <a:defRPr sz="2000" b="1">
                <a:solidFill>
                  <a:srgbClr val="1E293B"/>
                </a:solidFill>
                <a:latin typeface="Arial"/>
              </a:defRPr>
            </a:pPr>
            <a:r>
              <a:t>Chronological Attack Execution: The 8-Stage Lifecycle</a:t>
            </a:r>
          </a:p>
          <a:p>
            <a:pPr>
              <a:spcBef>
                <a:spcPts val="200"/>
              </a:spcBef>
              <a:defRPr sz="1050" b="0">
                <a:solidFill>
                  <a:srgbClr val="64748B"/>
                </a:solidFill>
                <a:latin typeface="Arial"/>
              </a:defRPr>
            </a:pPr>
            <a:r>
              <a:t>🎤 Amandeep Singh -&gt; Omik Acharya (Transition) | Time: 3:00 – 3:45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Somaiya Vidyavihar University — Digital Forensics &amp; Cyber Security Laboratory (Capstone Evaluation — 20 Marks) | Group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82512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A71930"/>
                </a:solidFill>
                <a:latin typeface="Arial"/>
              </a:defRPr>
            </a:pPr>
            <a:r>
              <a:t>Slide 5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34290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536192"/>
            <a:ext cx="320954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71930"/>
                </a:solidFill>
                <a:latin typeface="Arial"/>
              </a:defRPr>
            </a:pPr>
            <a:r>
              <a:t>Stage 1: Process Startup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SolarWinds.BusinessLayerHost.exe initiates and loads the Orion core DLL into system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06040"/>
            <a:ext cx="34290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679192"/>
            <a:ext cx="320954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71930"/>
                </a:solidFill>
                <a:latin typeface="Arial"/>
              </a:defRPr>
            </a:pPr>
            <a:r>
              <a:t>Stage 2: 12-14 Day Sleep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Thread.Sleep() dormancy timer delays all malicious execution to bypass dynamic sandboxes (T1497.003).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40"/>
            <a:ext cx="34290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822192"/>
            <a:ext cx="320954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71930"/>
                </a:solidFill>
                <a:latin typeface="Arial"/>
              </a:defRPr>
            </a:pPr>
            <a:r>
              <a:t>Stage 3: Defense Checks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Computes 64-bit FNV-1a hashes of running processes; aborts if any of 120+ analysis tools are active.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92040"/>
            <a:ext cx="34290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965192"/>
            <a:ext cx="320954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71930"/>
                </a:solidFill>
                <a:latin typeface="Arial"/>
              </a:defRPr>
            </a:pPr>
            <a:r>
              <a:t>Stage 4: Fingerprinting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Extracts MachineGuid from registry &amp; network MAC to build an irreversible victim identifier.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1463040"/>
            <a:ext cx="34290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1536192"/>
            <a:ext cx="320954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71930"/>
                </a:solidFill>
                <a:latin typeface="Arial"/>
              </a:defRPr>
            </a:pPr>
            <a:r>
              <a:t>Stage 5: DGA Generation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Inflates encrypted domain tokens and encodes victim hash into a custom subdomain.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2606040"/>
            <a:ext cx="34290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248" y="2679192"/>
            <a:ext cx="320954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71930"/>
                </a:solidFill>
                <a:latin typeface="Arial"/>
              </a:defRPr>
            </a:pPr>
            <a:r>
              <a:t>Stage 6: Covert DNS C2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Sends low-volume DNS queries to avsvmcloud.com; parses IPv4 CNAME responses for stage-2 instructions.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749040"/>
            <a:ext cx="34290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0248" y="3822192"/>
            <a:ext cx="320954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71930"/>
                </a:solidFill>
                <a:latin typeface="Arial"/>
              </a:defRPr>
            </a:pPr>
            <a:r>
              <a:t>Stage 7: Payload Drop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Downloads second-stage in-memory loaders (TEARDROP / Cobalt Strike Beacon) into target environment.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4892040"/>
            <a:ext cx="34290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0248" y="4965192"/>
            <a:ext cx="320954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71930"/>
                </a:solidFill>
                <a:latin typeface="Arial"/>
              </a:defRPr>
            </a:pPr>
            <a:r>
              <a:t>Stage 8: C2 Operations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Executes commands, steals SAML tokens, and facilitates lateral movement across domain infrastructure.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463040"/>
            <a:ext cx="3840480" cy="466344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1600200"/>
            <a:ext cx="34747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Arial"/>
              </a:defRPr>
            </a:pPr>
            <a:r>
              <a:t>🖥️ SIDE-BY-SIDE LIVE DEMO SYNC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Tool / Target: End-to-End Behavioral Simulation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Screen / Window: </a:t>
            </a:r>
            <a:r>
              <a:rPr b="0">
                <a:solidFill>
                  <a:srgbClr val="1E293B"/>
                </a:solidFill>
              </a:rPr>
              <a:t>Terminal &amp; Web Browser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Execution Action: </a:t>
            </a:r>
            <a:r>
              <a:rPr b="0">
                <a:solidFill>
                  <a:srgbClr val="1E293B"/>
                </a:solidFill>
              </a:rPr>
              <a:t>python3 scripts/run_forensics.py --simulate --simulate-behavior victim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Expected Visual: </a:t>
            </a:r>
            <a:r>
              <a:rPr b="0">
                <a:solidFill>
                  <a:srgbClr val="1E293B"/>
                </a:solidFill>
              </a:rPr>
              <a:t>Executes full 8-stage state-machine simulation in terminal, printing MITRE ATT&amp;CK techniques, execution gates, and decision trees for each stage.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1930"/>
          </a:solidFill>
          <a:ln>
            <a:solidFill>
              <a:srgbClr val="A7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omaiy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56032"/>
            <a:ext cx="2423160" cy="8094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28600"/>
            <a:ext cx="8412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71930"/>
                </a:solidFill>
                <a:latin typeface="Arial"/>
              </a:defRPr>
            </a:pPr>
            <a:r>
              <a:t>K.J. SOMAIYA SCHOOL OF ENGINEERING | STATIC DEOBFUSCATION &amp; REVERSE ENGINEERING</a:t>
            </a:r>
          </a:p>
          <a:p>
            <a:pPr>
              <a:spcBef>
                <a:spcPts val="200"/>
              </a:spcBef>
              <a:defRPr sz="2000" b="1">
                <a:solidFill>
                  <a:srgbClr val="1E293B"/>
                </a:solidFill>
                <a:latin typeface="Arial"/>
              </a:defRPr>
            </a:pPr>
            <a:r>
              <a:t>String Encryption: Base64 &amp; Raw Deflate Decompression</a:t>
            </a:r>
          </a:p>
          <a:p>
            <a:pPr>
              <a:spcBef>
                <a:spcPts val="200"/>
              </a:spcBef>
              <a:defRPr sz="1050" b="0">
                <a:solidFill>
                  <a:srgbClr val="64748B"/>
                </a:solidFill>
                <a:latin typeface="Arial"/>
              </a:defRPr>
            </a:pPr>
            <a:r>
              <a:t>🎤 Omik Acharya (Reverse Engineer) | Time: 3:45 – 4:45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Somaiya Vidyavihar University — Digital Forensics &amp; Cyber Security Laboratory (Capstone Evaluation — 20 Marks) | Group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82512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A71930"/>
                </a:solidFill>
                <a:latin typeface="Arial"/>
              </a:defRPr>
            </a:pPr>
            <a:r>
              <a:t>Slide 6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70408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71930"/>
                </a:solidFill>
                <a:latin typeface="Arial"/>
              </a:defRPr>
            </a:pPr>
            <a:r>
              <a:t>MANDIANT FLOSS (v3.1.1) &amp; DEFLATE DECOMPRESSION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Encryption Scheme: </a:t>
            </a:r>
            <a:r>
              <a:rPr b="0">
                <a:solidFill>
                  <a:srgbClr val="475569"/>
                </a:solidFill>
              </a:rPr>
              <a:t>SUNBURST encoded all internal configuration strings using Base64 followed by raw Deflate decompression (wbits = -15, raw stream without zlib/gzip headers).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Defeat of Strings Utility: </a:t>
            </a:r>
            <a:r>
              <a:rPr b="0">
                <a:solidFill>
                  <a:srgbClr val="475569"/>
                </a:solidFill>
              </a:rPr>
              <a:t>Standard sysinternals 'strings' command yielded zero useful forensic indicators because all payloads were compressed streams.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Apex C2 Domain: </a:t>
            </a:r>
            <a:r>
              <a:rPr b="0">
                <a:solidFill>
                  <a:srgbClr val="475569"/>
                </a:solidFill>
              </a:rPr>
              <a:t>SywrLstNzskvTdFLzs8FAA==  --&gt;  avsvmcloud.com (The primary command-and-control communication apex).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Hardware GUID Registry: </a:t>
            </a:r>
            <a:r>
              <a:rPr b="0">
                <a:solidFill>
                  <a:srgbClr val="475569"/>
                </a:solidFill>
              </a:rPr>
              <a:t>C/Z3Cwl3DHKN8c1MLsovzk8riXEuqiwoyU8vSizIqAQA  --&gt;  SOFTWARE\Microsoft\Cryptography.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Victim GUID Identifier: </a:t>
            </a:r>
            <a:r>
              <a:rPr b="0">
                <a:solidFill>
                  <a:srgbClr val="475569"/>
                </a:solidFill>
              </a:rPr>
              <a:t>801MzsjMS3UvzUwBAA==  --&gt;  MachineGuid (Used to generate immutable victim cryptographic hash).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Canary Check Domain: </a:t>
            </a:r>
            <a:r>
              <a:rPr b="0">
                <a:solidFill>
                  <a:srgbClr val="475569"/>
                </a:solidFill>
              </a:rPr>
              <a:t>SyzI1CvOz0ksKs/MSynWS87PBQA=  --&gt;  api.solarwinds.com (Benign domain pinged to verify Internet access).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63040"/>
            <a:ext cx="3840480" cy="466344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600200"/>
            <a:ext cx="34747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Arial"/>
              </a:defRPr>
            </a:pPr>
            <a:r>
              <a:t>🖥️ SIDE-BY-SIDE LIVE DEMO SYNC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Tool / Target: Live String Decompression Engine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Screen / Window: </a:t>
            </a:r>
            <a:r>
              <a:rPr b="0">
                <a:solidFill>
                  <a:srgbClr val="1E293B"/>
                </a:solidFill>
              </a:rPr>
              <a:t>Terminal &amp; Web Browser (Stage 5)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Execution Action: </a:t>
            </a:r>
            <a:r>
              <a:rPr b="0">
                <a:solidFill>
                  <a:srgbClr val="1E293B"/>
                </a:solidFill>
              </a:rPr>
              <a:t>Terminal: floss --version | Browser: Click live 'Decode all' button in Stage 5.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Expected Visual: </a:t>
            </a:r>
            <a:r>
              <a:rPr b="0">
                <a:solidFill>
                  <a:srgbClr val="1E293B"/>
                </a:solidFill>
              </a:rPr>
              <a:t>Terminal verifies native Mandiant FLOSS installation. Browser simulation live-unscrambles 7 Base64 ciphertext tokens into plaintext C2 parameters in real-time.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1930"/>
          </a:solidFill>
          <a:ln>
            <a:solidFill>
              <a:srgbClr val="A7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omaiy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56032"/>
            <a:ext cx="2423160" cy="8094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28600"/>
            <a:ext cx="8412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71930"/>
                </a:solidFill>
                <a:latin typeface="Arial"/>
              </a:defRPr>
            </a:pPr>
            <a:r>
              <a:t>K.J. SOMAIYA SCHOOL OF ENGINEERING | DEFENSE EVASION &amp; ANTI-ANALYSIS</a:t>
            </a:r>
          </a:p>
          <a:p>
            <a:pPr>
              <a:spcBef>
                <a:spcPts val="200"/>
              </a:spcBef>
              <a:defRPr sz="2000" b="1">
                <a:solidFill>
                  <a:srgbClr val="1E293B"/>
                </a:solidFill>
                <a:latin typeface="Arial"/>
              </a:defRPr>
            </a:pPr>
            <a:r>
              <a:t>Process Blacklist Hashing: 64-Bit FNV-1a &amp; XOR Masking</a:t>
            </a:r>
          </a:p>
          <a:p>
            <a:pPr>
              <a:spcBef>
                <a:spcPts val="200"/>
              </a:spcBef>
              <a:defRPr sz="1050" b="0">
                <a:solidFill>
                  <a:srgbClr val="64748B"/>
                </a:solidFill>
                <a:latin typeface="Arial"/>
              </a:defRPr>
            </a:pPr>
            <a:r>
              <a:t>🎤 Omik Acharya (Reverse Engineer) | Time: 4:45 – 5:45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Somaiya Vidyavihar University — Digital Forensics &amp; Cyber Security Laboratory (Capstone Evaluation — 20 Marks) | Group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82512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A71930"/>
                </a:solidFill>
                <a:latin typeface="Arial"/>
              </a:defRPr>
            </a:pPr>
            <a:r>
              <a:t>Slide 7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70408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71930"/>
                </a:solidFill>
                <a:latin typeface="Arial"/>
              </a:defRPr>
            </a:pPr>
            <a:r>
              <a:t>MATHEMATICAL ALGORITHM &amp; 120+ PROCESS BLOCKLIST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Stealth Rationale: </a:t>
            </a:r>
            <a:r>
              <a:rPr b="0">
                <a:solidFill>
                  <a:srgbClr val="475569"/>
                </a:solidFill>
              </a:rPr>
              <a:t>To prevent EDR and SOC analysts from detecting process-enumeration strings, SUNBURST never stored blacklist names (e.g., 'wireshark') in plaintext.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Hashing Algorithm: </a:t>
            </a:r>
            <a:r>
              <a:rPr b="0">
                <a:solidFill>
                  <a:srgbClr val="475569"/>
                </a:solidFill>
              </a:rPr>
              <a:t>Formula: Hash = FNV1a_64(lowercase(process_name)) XOR 0x5BAC903BA7D81967.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Constants: </a:t>
            </a:r>
            <a:r>
              <a:rPr b="0">
                <a:solidFill>
                  <a:srgbClr val="475569"/>
                </a:solidFill>
              </a:rPr>
              <a:t>Offset Basis: 0xcbf29ce484222325 | Prime: 0x100000001b3 | XOR Mask: 6605813339339102567.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wireshark Verification: </a:t>
            </a:r>
            <a:r>
              <a:rPr b="0">
                <a:solidFill>
                  <a:srgbClr val="475569"/>
                </a:solidFill>
              </a:rPr>
              <a:t>lowercase('wireshark') -&gt; FNV-1a: 0xa84ff6500970f54d -&gt; XOR: 17574002783607647274 (BLOCKLIST MATCH).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procmon Verification: </a:t>
            </a:r>
            <a:r>
              <a:rPr b="0">
                <a:solidFill>
                  <a:srgbClr val="475569"/>
                </a:solidFill>
              </a:rPr>
              <a:t>lowercase('procmon') -&gt; FNV-1a: 0x46240b85b6a1d8ed -&gt; XOR: 2128122064571842954 (BLOCKLIST MATCH).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x64dbg Verification: </a:t>
            </a:r>
            <a:r>
              <a:rPr b="0">
                <a:solidFill>
                  <a:srgbClr val="475569"/>
                </a:solidFill>
              </a:rPr>
              <a:t>lowercase('x64dbg') -&gt; FNV-1a: 0x9f5627c8d228677c -&gt; XOR: 14193859431895170587 (BLOCKLIST MATCH).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63040"/>
            <a:ext cx="3840480" cy="466344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600200"/>
            <a:ext cx="34747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Arial"/>
              </a:defRPr>
            </a:pPr>
            <a:r>
              <a:t>🖥️ SIDE-BY-SIDE LIVE DEMO SYNC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Tool / Target: Interactive Process Checker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Screen / Window: </a:t>
            </a:r>
            <a:r>
              <a:rPr b="0">
                <a:solidFill>
                  <a:srgbClr val="1E293B"/>
                </a:solidFill>
              </a:rPr>
              <a:t>Terminal &amp; Web Browser (Stage 6)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Execution Action: </a:t>
            </a:r>
            <a:r>
              <a:rPr b="0">
                <a:solidFill>
                  <a:srgbClr val="1E293B"/>
                </a:solidFill>
              </a:rPr>
              <a:t>python3 scripts/run_forensics.py --check-process wireshark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Expected Visual: </a:t>
            </a:r>
            <a:r>
              <a:rPr b="0">
                <a:solidFill>
                  <a:srgbClr val="1E293B"/>
                </a:solidFill>
              </a:rPr>
              <a:t>Terminal calculates 64-bit FNV hash and confirms blocklist hit. Browser Stage 6 illustrates the 5-step mathematical transformation pipeline with animated data blocks.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1930"/>
          </a:solidFill>
          <a:ln>
            <a:solidFill>
              <a:srgbClr val="A7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omaiy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56032"/>
            <a:ext cx="2423160" cy="8094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28600"/>
            <a:ext cx="8412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71930"/>
                </a:solidFill>
                <a:latin typeface="Arial"/>
              </a:defRPr>
            </a:pPr>
            <a:r>
              <a:t>K.J. SOMAIYA SCHOOL OF ENGINEERING | ATT&amp;CK MAPPING &amp; CAPABILITY ATTRIBUTION</a:t>
            </a:r>
          </a:p>
          <a:p>
            <a:pPr>
              <a:spcBef>
                <a:spcPts val="200"/>
              </a:spcBef>
              <a:defRPr sz="2000" b="1">
                <a:solidFill>
                  <a:srgbClr val="1E293B"/>
                </a:solidFill>
                <a:latin typeface="Arial"/>
              </a:defRPr>
            </a:pPr>
            <a:r>
              <a:t>Behavioral Identification via Mandiant CAPA (v9.4.0)</a:t>
            </a:r>
          </a:p>
          <a:p>
            <a:pPr>
              <a:spcBef>
                <a:spcPts val="200"/>
              </a:spcBef>
              <a:defRPr sz="1050" b="0">
                <a:solidFill>
                  <a:srgbClr val="64748B"/>
                </a:solidFill>
                <a:latin typeface="Arial"/>
              </a:defRPr>
            </a:pPr>
            <a:r>
              <a:t>🎤 Omik Acharya (Reverse Engineer) | Time: 5:45 – 6:45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Somaiya Vidyavihar University — Digital Forensics &amp; Cyber Security Laboratory (Capstone Evaluation — 20 Marks) | Group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82512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A71930"/>
                </a:solidFill>
                <a:latin typeface="Arial"/>
              </a:defRPr>
            </a:pPr>
            <a:r>
              <a:t>Slide 8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70408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71930"/>
                </a:solidFill>
                <a:latin typeface="Arial"/>
              </a:defRPr>
            </a:pPr>
            <a:r>
              <a:t>MANDIANT CAPA RULE MATCHING &amp; ATT&amp;CK CORRELATION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Semantic Rule Engine: </a:t>
            </a:r>
            <a:r>
              <a:rPr b="0">
                <a:solidFill>
                  <a:srgbClr val="475569"/>
                </a:solidFill>
              </a:rPr>
              <a:t>Mandiant CAPA disassembled MSIL bytecode to identify higher-order capabilities without running the malware.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T1497.003: Time Sandbox Evasion: </a:t>
            </a:r>
            <a:r>
              <a:rPr b="0">
                <a:solidFill>
                  <a:srgbClr val="475569"/>
                </a:solidFill>
              </a:rPr>
              <a:t>Identified 12-14 day Thread.Sleep dormancy loop designed to exceed automated sandbox analysis timeouts.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T1071.004: DNS C2 Tunneling: </a:t>
            </a:r>
            <a:r>
              <a:rPr b="0">
                <a:solidFill>
                  <a:srgbClr val="475569"/>
                </a:solidFill>
              </a:rPr>
              <a:t>Detected DNS query formatting transmitting base32/base64 encoded host telemetry to avsvmcloud.com.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T1562.001: Impair Defenses: </a:t>
            </a:r>
            <a:r>
              <a:rPr b="0">
                <a:solidFill>
                  <a:srgbClr val="475569"/>
                </a:solidFill>
              </a:rPr>
              <a:t>Discovered process enumeration loops terminating security monitoring tools matching hashed blocklist entries.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T1082: System Info Discovery: </a:t>
            </a:r>
            <a:r>
              <a:rPr b="0">
                <a:solidFill>
                  <a:srgbClr val="475569"/>
                </a:solidFill>
              </a:rPr>
              <a:t>Uncovered WMI queries to Win32_NetworkAdapterConfiguration and registry MachineGuid extraction.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T1027.002: Software Packing: </a:t>
            </a:r>
            <a:r>
              <a:rPr b="0">
                <a:solidFill>
                  <a:srgbClr val="475569"/>
                </a:solidFill>
              </a:rPr>
              <a:t>Verified custom Deflate decompressor routines inflating packed configuration parameters in memory.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63040"/>
            <a:ext cx="3840480" cy="466344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600200"/>
            <a:ext cx="34747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Arial"/>
              </a:defRPr>
            </a:pPr>
            <a:r>
              <a:t>🖥️ SIDE-BY-SIDE LIVE DEMO SYNC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Tool / Target: Mandiant CAPA Execution Engine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Screen / Window: </a:t>
            </a:r>
            <a:r>
              <a:rPr b="0">
                <a:solidFill>
                  <a:srgbClr val="1E293B"/>
                </a:solidFill>
              </a:rPr>
              <a:t>Terminal (macOS zsh / bash)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Execution Action: </a:t>
            </a:r>
            <a:r>
              <a:rPr b="0">
                <a:solidFill>
                  <a:srgbClr val="1E293B"/>
                </a:solidFill>
              </a:rPr>
              <a:t>capa --version &amp;&amp; python3 scripts/run_forensics.py --simulate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Expected Visual: </a:t>
            </a:r>
            <a:r>
              <a:rPr b="0">
                <a:solidFill>
                  <a:srgbClr val="1E293B"/>
                </a:solidFill>
              </a:rPr>
              <a:t>Terminal prints capa 9.4.0 verification and outputs rich terminal table mapping all 14 detected ATT&amp;CK techniques directly to SUNBURST disassembled functions.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1930"/>
          </a:solidFill>
          <a:ln>
            <a:solidFill>
              <a:srgbClr val="A7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omaiy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56032"/>
            <a:ext cx="2423160" cy="8094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28600"/>
            <a:ext cx="8412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71930"/>
                </a:solidFill>
                <a:latin typeface="Arial"/>
              </a:defRPr>
            </a:pPr>
            <a:r>
              <a:t>K.J. SOMAIYA SCHOOL OF ENGINEERING | STATUTORY COMPLIANCE &amp; CYBER LAW</a:t>
            </a:r>
          </a:p>
          <a:p>
            <a:pPr>
              <a:spcBef>
                <a:spcPts val="200"/>
              </a:spcBef>
              <a:defRPr sz="2000" b="1">
                <a:solidFill>
                  <a:srgbClr val="1E293B"/>
                </a:solidFill>
                <a:latin typeface="Arial"/>
              </a:defRPr>
            </a:pPr>
            <a:r>
              <a:t>Indian Statutory Framework: IT Act 2000 &amp; CERT-In Directives</a:t>
            </a:r>
          </a:p>
          <a:p>
            <a:pPr>
              <a:spcBef>
                <a:spcPts val="200"/>
              </a:spcBef>
              <a:defRPr sz="1050" b="0">
                <a:solidFill>
                  <a:srgbClr val="64748B"/>
                </a:solidFill>
                <a:latin typeface="Arial"/>
              </a:defRPr>
            </a:pPr>
            <a:r>
              <a:t>🎤 Om Lanke (Technical Auditor) | Time: 6:45 – 7:45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Somaiya Vidyavihar University — Digital Forensics &amp; Cyber Security Laboratory (Capstone Evaluation — 20 Marks) | Group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82512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A71930"/>
                </a:solidFill>
                <a:latin typeface="Arial"/>
              </a:defRPr>
            </a:pPr>
            <a:r>
              <a:t>Slide 9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70408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71930"/>
                </a:solidFill>
                <a:latin typeface="Arial"/>
              </a:defRPr>
            </a:pPr>
            <a:r>
              <a:t>INDIAN CYBER LEGISLATION &amp; REPORTING MANDATES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IT Act, 2000 — Section 43 &amp; 66: </a:t>
            </a:r>
            <a:r>
              <a:rPr b="0">
                <a:solidFill>
                  <a:srgbClr val="475569"/>
                </a:solidFill>
              </a:rPr>
              <a:t>Unauthorized access, extraction of system configurations (MachineGuid), and introducing computer contaminants (penalty up to 3 years / civil damages).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IT Act, 2000 — Section 66F: </a:t>
            </a:r>
            <a:r>
              <a:rPr b="0">
                <a:solidFill>
                  <a:srgbClr val="475569"/>
                </a:solidFill>
              </a:rPr>
              <a:t>Cyber Terrorism: Attacks on supply chains impacting critical national infrastructure or sovereignty (punishable with imprisonment for life).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IT Act, 2000 — Section 70: </a:t>
            </a:r>
            <a:r>
              <a:rPr b="0">
                <a:solidFill>
                  <a:srgbClr val="475569"/>
                </a:solidFill>
              </a:rPr>
              <a:t>Protected Systems: Unauthorized access to government or critical utility networks managing power, banking, or defense.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CERT-In Directions 2022: </a:t>
            </a:r>
            <a:r>
              <a:rPr b="0">
                <a:solidFill>
                  <a:srgbClr val="475569"/>
                </a:solidFill>
              </a:rPr>
              <a:t>Mandatory 6-Hour Reporting Window: Under Annexure I Category 2, organizations must notify CERT-In within 6 hours of discovering supply chain intrusion.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180-Day Log Retention Rule: </a:t>
            </a:r>
            <a:r>
              <a:rPr b="0">
                <a:solidFill>
                  <a:srgbClr val="475569"/>
                </a:solidFill>
              </a:rPr>
              <a:t>Direction 20(3) requires ICT service providers to maintain secure system and access logs for 180 days within Indian jurisdiction.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DPDP Act, 2023 — Section 8(5)/(6): </a:t>
            </a:r>
            <a:r>
              <a:rPr b="0">
                <a:solidFill>
                  <a:srgbClr val="475569"/>
                </a:solidFill>
              </a:rPr>
              <a:t>Mandatory disclosure to Data Protection Board of India and affected Data Principals in the event of personal data breach.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63040"/>
            <a:ext cx="3840480" cy="466344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600200"/>
            <a:ext cx="34747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Arial"/>
              </a:defRPr>
            </a:pPr>
            <a:r>
              <a:t>🖥️ SIDE-BY-SIDE LIVE DEMO SYNC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Tool / Target: Indian Law Mapping &amp; CERT-In Generator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Screen / Window: </a:t>
            </a:r>
            <a:r>
              <a:rPr b="0">
                <a:solidFill>
                  <a:srgbClr val="1E293B"/>
                </a:solidFill>
              </a:rPr>
              <a:t>Web Browser (Stage 10) &amp; VS Code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Execution Action: </a:t>
            </a:r>
            <a:r>
              <a:rPr b="0">
                <a:solidFill>
                  <a:srgbClr val="1E293B"/>
                </a:solidFill>
              </a:rPr>
              <a:t>Browser Stage 10: Click finding buttons | VS Code: Open legal_compliance/CERT_In_Incident_Notification_Template.md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Expected Visual: </a:t>
            </a:r>
            <a:r>
              <a:rPr b="0">
                <a:solidFill>
                  <a:srgbClr val="1E293B"/>
                </a:solidFill>
              </a:rPr>
              <a:t>Simulation illuminates corresponding Indian penal sections dynamically. Template file displays compliant 6-hour incident report draft formatted for CERT-In submission.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1930"/>
          </a:solidFill>
          <a:ln>
            <a:solidFill>
              <a:srgbClr val="A7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omaiy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56032"/>
            <a:ext cx="2423160" cy="8094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28600"/>
            <a:ext cx="8412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71930"/>
                </a:solidFill>
                <a:latin typeface="Arial"/>
              </a:defRPr>
            </a:pPr>
            <a:r>
              <a:t>K.J. SOMAIYA SCHOOL OF ENGINEERING | LEGAL ADMISSIBILITY &amp; CERTIFICATION</a:t>
            </a:r>
          </a:p>
          <a:p>
            <a:pPr>
              <a:spcBef>
                <a:spcPts val="200"/>
              </a:spcBef>
              <a:defRPr sz="2000" b="1">
                <a:solidFill>
                  <a:srgbClr val="1E293B"/>
                </a:solidFill>
                <a:latin typeface="Arial"/>
              </a:defRPr>
            </a:pPr>
            <a:r>
              <a:t>Bharatiya Sakshya Adhiniyam (BSA), 2023: Section 63 Admissibility</a:t>
            </a:r>
          </a:p>
          <a:p>
            <a:pPr>
              <a:spcBef>
                <a:spcPts val="200"/>
              </a:spcBef>
              <a:defRPr sz="1050" b="0">
                <a:solidFill>
                  <a:srgbClr val="64748B"/>
                </a:solidFill>
                <a:latin typeface="Arial"/>
              </a:defRPr>
            </a:pPr>
            <a:r>
              <a:t>🎤 Om Lanke (Technical Auditor) | Time: 7:45 – 8:45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Somaiya Vidyavihar University — Digital Forensics &amp; Cyber Security Laboratory (Capstone Evaluation — 20 Marks) | Group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82512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A71930"/>
                </a:solidFill>
                <a:latin typeface="Arial"/>
              </a:defRPr>
            </a:pPr>
            <a:r>
              <a:t>Slide 10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70408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71930"/>
                </a:solidFill>
                <a:latin typeface="Arial"/>
              </a:defRPr>
            </a:pPr>
            <a:r>
              <a:t>SECTION 63 BSA 2023 DUAL AFFIRMATION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Repeal of IEA Section 65B: </a:t>
            </a:r>
            <a:r>
              <a:rPr b="0">
                <a:solidFill>
                  <a:srgbClr val="475569"/>
                </a:solidFill>
              </a:rPr>
              <a:t>The Indian Evidence Act, 1872 is superseded by the Bharatiya Sakshya Adhiniyam, 2023. Section 63 now governs admissibility of electronic records in court.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Sub-Section 63(4)(c) Certificate: </a:t>
            </a:r>
            <a:r>
              <a:rPr b="0">
                <a:solidFill>
                  <a:srgbClr val="475569"/>
                </a:solidFill>
              </a:rPr>
              <a:t>Mandates a formal certificate affirming the integrity, authenticity, and non-tampered chain of custody of digital evidence presented at trial.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Part A: Custodian Affirmation: </a:t>
            </a:r>
            <a:r>
              <a:rPr b="0">
                <a:solidFill>
                  <a:srgbClr val="475569"/>
                </a:solidFill>
              </a:rPr>
              <a:t>Executed by Amandeep Singh (Lead Investigator) certifying system origin, operational normalcy, and lawful acquisition under ISO/IEC 27037.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Part B: Expert Forensic Affirmation: </a:t>
            </a:r>
            <a:r>
              <a:rPr b="0">
                <a:solidFill>
                  <a:srgbClr val="475569"/>
                </a:solidFill>
              </a:rPr>
              <a:t>Jointly executed by Om Lanke &amp; Omik Acharya affirming scientific validity of FLOSS/CAPA deobfuscation and bitwise hash match.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Hardware Telemetry Gathering: </a:t>
            </a:r>
            <a:r>
              <a:rPr b="0">
                <a:solidFill>
                  <a:srgbClr val="475569"/>
                </a:solidFill>
              </a:rPr>
              <a:t>scripts/generate_bsa_cert.py captures host MAC address, OS kernel, CPU architecture, and NTP-synced timestamp to bind certificate to physical device.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BNSS 2023 Section 105: </a:t>
            </a:r>
            <a:r>
              <a:rPr b="0">
                <a:solidFill>
                  <a:srgbClr val="475569"/>
                </a:solidFill>
              </a:rPr>
              <a:t>Complies with Bharatiya Nagarik Suraksha Sanhita requirements for mandatory videography and forensic documentation of digital evidence seizures.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63040"/>
            <a:ext cx="3840480" cy="466344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600200"/>
            <a:ext cx="34747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Arial"/>
              </a:defRPr>
            </a:pPr>
            <a:r>
              <a:t>🖥️ SIDE-BY-SIDE LIVE DEMO SYNC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Tool / Target: Automated BSA Section 63 Certificate Generator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Screen / Window: </a:t>
            </a:r>
            <a:r>
              <a:rPr b="0">
                <a:solidFill>
                  <a:srgbClr val="1E293B"/>
                </a:solidFill>
              </a:rPr>
              <a:t>Terminal &amp; VS Code Editor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Execution Action: </a:t>
            </a:r>
            <a:r>
              <a:rPr b="0">
                <a:solidFill>
                  <a:srgbClr val="1E293B"/>
                </a:solidFill>
              </a:rPr>
              <a:t>python3 scripts/generate_bsa_cert.py --format both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Expected Visual: </a:t>
            </a:r>
            <a:r>
              <a:rPr b="0">
                <a:solidFill>
                  <a:srgbClr val="1E293B"/>
                </a:solidFill>
              </a:rPr>
              <a:t>Generates both Markdown and Plaintext certificates. VS Code displays legal_compliance/Section_63_BSA_Certificate.md complete with embedded hardware MAC address and student signatures.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1930"/>
          </a:solidFill>
          <a:ln>
            <a:solidFill>
              <a:srgbClr val="A7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omaiy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56032"/>
            <a:ext cx="2423160" cy="8094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28600"/>
            <a:ext cx="8412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71930"/>
                </a:solidFill>
                <a:latin typeface="Arial"/>
              </a:defRPr>
            </a:pPr>
            <a:r>
              <a:t>K.J. SOMAIYA SCHOOL OF ENGINEERING | CI/CD AUTOMATION &amp; VERIFICATION</a:t>
            </a:r>
          </a:p>
          <a:p>
            <a:pPr>
              <a:spcBef>
                <a:spcPts val="200"/>
              </a:spcBef>
              <a:defRPr sz="2000" b="1">
                <a:solidFill>
                  <a:srgbClr val="1E293B"/>
                </a:solidFill>
                <a:latin typeface="Arial"/>
              </a:defRPr>
            </a:pPr>
            <a:r>
              <a:t>Automated Forensic Pipeline &amp; Regression Test Suite</a:t>
            </a:r>
          </a:p>
          <a:p>
            <a:pPr>
              <a:spcBef>
                <a:spcPts val="200"/>
              </a:spcBef>
              <a:defRPr sz="1050" b="0">
                <a:solidFill>
                  <a:srgbClr val="64748B"/>
                </a:solidFill>
                <a:latin typeface="Arial"/>
              </a:defRPr>
            </a:pPr>
            <a:r>
              <a:t>🎤 Om Lanke (Technical Auditor) | Time: 8:45 – 9:15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Somaiya Vidyavihar University — Digital Forensics &amp; Cyber Security Laboratory (Capstone Evaluation — 20 Marks) | Group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82512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A71930"/>
                </a:solidFill>
                <a:latin typeface="Arial"/>
              </a:defRPr>
            </a:pPr>
            <a:r>
              <a:t>Slide 11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70408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71930"/>
                </a:solidFill>
                <a:latin typeface="Arial"/>
              </a:defRPr>
            </a:pPr>
            <a:r>
              <a:t>GITHUB CLASSROOM CI &amp; PYTEST SUITE (22 ASSERTIONS)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CI Engine Architecture: </a:t>
            </a:r>
            <a:r>
              <a:rPr b="0">
                <a:solidFill>
                  <a:srgbClr val="475569"/>
                </a:solidFill>
              </a:rPr>
              <a:t>Workflow .github/workflows/classroom-ci.yml powered by Astral uv v5 setup for high-speed deterministic dependency installation.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Python 3.11 Runtime Support: </a:t>
            </a:r>
            <a:r>
              <a:rPr b="0">
                <a:solidFill>
                  <a:srgbClr val="475569"/>
                </a:solidFill>
              </a:rPr>
              <a:t>Resolves PEP 634 match/case syntax incompatibilities found in legacy Python 3.9 vivisect engine; guarantees 100% CI pass rate.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Cryptographic Test Group: </a:t>
            </a:r>
            <a:r>
              <a:rPr b="0">
                <a:solidFill>
                  <a:srgbClr val="475569"/>
                </a:solidFill>
              </a:rPr>
              <a:t>Validates dual SHA-256 manifests, metadata JSON schema, and prevents bitwise drift across repos (test_forensic_pipeline.py).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Reverse Engineering Group: </a:t>
            </a:r>
            <a:r>
              <a:rPr b="0">
                <a:solidFill>
                  <a:srgbClr val="475569"/>
                </a:solidFill>
              </a:rPr>
              <a:t>Asserts raw Deflate decompression accuracy, 64-bit FNV-1a mathematical outputs, and XOR blocklist hit flags.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Statutory Test Group: </a:t>
            </a:r>
            <a:r>
              <a:rPr b="0">
                <a:solidFill>
                  <a:srgbClr val="475569"/>
                </a:solidFill>
              </a:rPr>
              <a:t>Ensures dynamic telemetry extraction, Part A / Part B Section 63 BSA certificate generation, and CERT-In template structure.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• Execution Speed: </a:t>
            </a:r>
            <a:r>
              <a:rPr b="0">
                <a:solidFill>
                  <a:srgbClr val="475569"/>
                </a:solidFill>
              </a:rPr>
              <a:t>All 22 unit tests execute completely in under 0.25 seconds, proving production-grade forensic reproducibility.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63040"/>
            <a:ext cx="3840480" cy="466344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600200"/>
            <a:ext cx="34747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Arial"/>
              </a:defRPr>
            </a:pPr>
            <a:r>
              <a:t>🖥️ SIDE-BY-SIDE LIVE DEMO SYNC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Tool / Target: Automated Test Execution Suite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Screen / Window: </a:t>
            </a:r>
            <a:r>
              <a:rPr b="0">
                <a:solidFill>
                  <a:srgbClr val="1E293B"/>
                </a:solidFill>
              </a:rPr>
              <a:t>Terminal (macOS zsh / bash)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Execution Action: </a:t>
            </a:r>
            <a:r>
              <a:rPr b="0">
                <a:solidFill>
                  <a:srgbClr val="1E293B"/>
                </a:solidFill>
              </a:rPr>
              <a:t>pytest tests/ -v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Expected Visual: </a:t>
            </a:r>
            <a:r>
              <a:rPr b="0">
                <a:solidFill>
                  <a:srgbClr val="1E293B"/>
                </a:solidFill>
              </a:rPr>
              <a:t>Terminal prints live test execution showing 22 passed in ~0.20s across cryptographic, deobfuscation, legal, and documentation suites with 100% test coverage.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1930"/>
          </a:solidFill>
          <a:ln>
            <a:solidFill>
              <a:srgbClr val="A7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omaiy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56032"/>
            <a:ext cx="2423160" cy="8094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28600"/>
            <a:ext cx="8412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71930"/>
                </a:solidFill>
                <a:latin typeface="Arial"/>
              </a:defRPr>
            </a:pPr>
            <a:r>
              <a:t>K.J. SOMAIYA SCHOOL OF ENGINEERING | CONCLUSION &amp; EVALUATION MATRIX</a:t>
            </a:r>
          </a:p>
          <a:p>
            <a:pPr>
              <a:spcBef>
                <a:spcPts val="200"/>
              </a:spcBef>
              <a:defRPr sz="2000" b="1">
                <a:solidFill>
                  <a:srgbClr val="1E293B"/>
                </a:solidFill>
                <a:latin typeface="Arial"/>
              </a:defRPr>
            </a:pPr>
            <a:r>
              <a:t>Forensic Findings Resolution &amp; Evaluator Q&amp;A</a:t>
            </a:r>
          </a:p>
          <a:p>
            <a:pPr>
              <a:spcBef>
                <a:spcPts val="200"/>
              </a:spcBef>
              <a:defRPr sz="1050" b="0">
                <a:solidFill>
                  <a:srgbClr val="64748B"/>
                </a:solidFill>
                <a:latin typeface="Arial"/>
              </a:defRPr>
            </a:pPr>
            <a:r>
              <a:t>🎤 Amandeep Singh, Omik Acharya, Om Lanke | Time: 9:15 – 10:00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Somaiya Vidyavihar University — Digital Forensics &amp; Cyber Security Laboratory (Capstone Evaluation — 20 Marks) | Group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82512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A71930"/>
                </a:solidFill>
                <a:latin typeface="Arial"/>
              </a:defRPr>
            </a:pPr>
            <a:r>
              <a:t>Slide 12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70408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71930"/>
                </a:solidFill>
                <a:latin typeface="Arial"/>
              </a:defRPr>
            </a:pPr>
            <a:r>
              <a:t>FINAL ANSWERS TO 6 CORE CAPSTONE QUESTIONS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920240"/>
          <a:ext cx="6675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377440"/>
                <a:gridCol w="2926080"/>
              </a:tblGrid>
              <a:tr h="574765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Forensic Scope</a:t>
                      </a:r>
                    </a:p>
                  </a:txBody>
                  <a:tcPr>
                    <a:solidFill>
                      <a:srgbClr val="A7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Investigation Question</a:t>
                      </a:r>
                    </a:p>
                  </a:txBody>
                  <a:tcPr>
                    <a:solidFill>
                      <a:srgbClr val="A7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Forensic Group 10 Resolution</a:t>
                      </a:r>
                    </a:p>
                  </a:txBody>
                  <a:tcPr>
                    <a:solidFill>
                      <a:srgbClr val="A71930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 Authenticity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Was the infected DLL legitimate?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10954F"/>
                          </a:solidFill>
                          <a:latin typeface="Arial"/>
                        </a:defRPr>
                      </a:pPr>
                      <a:r>
                        <a:t>Yes, trojanized during build compilation; had valid DigiCert signature.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2. Encryption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Are internal tokens recoverable?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10954F"/>
                          </a:solidFill>
                          <a:latin typeface="Arial"/>
                        </a:defRPr>
                      </a:pPr>
                      <a:r>
                        <a:t>Yes, deobfuscated via Base64 + raw Deflate (wbits=-15) revealing avsvmcloud.com.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3. Anti-Analysis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How did it defeat security tools?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10954F"/>
                          </a:solidFill>
                          <a:latin typeface="Arial"/>
                        </a:defRPr>
                      </a:pPr>
                      <a:r>
                        <a:t>Checked 120+ tools using 64-bit FNV-1a hashing + XOR mask; no plaintext names.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4. Network C2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What protocol was used for C2?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10954F"/>
                          </a:solidFill>
                          <a:latin typeface="Arial"/>
                        </a:defRPr>
                      </a:pPr>
                      <a:r>
                        <a:t>Covert DNS tunneling via avsvmcloud.com with DGA victim identification.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5. Cyber Law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Is evidence admissible in court?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10954F"/>
                          </a:solidFill>
                          <a:latin typeface="Arial"/>
                        </a:defRPr>
                      </a:pPr>
                      <a:r>
                        <a:t>Fully compliant with Section 63 BSA 2023 with Part A &amp; B affirmations + CERT-In 6h rule.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6. Reproducibility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Can results be verified by CI?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10954F"/>
                          </a:solidFill>
                          <a:latin typeface="Arial"/>
                        </a:defRPr>
                      </a:pPr>
                      <a:r>
                        <a:t>Automated GitHub Actions CI running 22 pytest assertions with 100% green status.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72400" y="1463040"/>
            <a:ext cx="3840480" cy="466344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600200"/>
            <a:ext cx="34747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Arial"/>
              </a:defRPr>
            </a:pPr>
            <a:r>
              <a:t>🖥️ SIDE-BY-SIDE LIVE DEMO SYNC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  <a:latin typeface="Arial"/>
              </a:defRPr>
            </a:pPr>
            <a:r>
              <a:t>Tool / Target: Final Conclusion &amp; Interactive Q&amp;A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Screen / Window: </a:t>
            </a:r>
            <a:r>
              <a:rPr b="0">
                <a:solidFill>
                  <a:srgbClr val="1E293B"/>
                </a:solidFill>
              </a:rPr>
              <a:t>Web Browser (docs/sunburst_simulation.html - Stage 11)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Execution Action: </a:t>
            </a:r>
            <a:r>
              <a:rPr b="0">
                <a:solidFill>
                  <a:srgbClr val="1E293B"/>
                </a:solidFill>
              </a:rPr>
              <a:t>Navigate to Stage 11 ('Conclusion') -&gt; Present 6 verified findings.</a:t>
            </a:r>
          </a:p>
          <a:p>
            <a:pPr>
              <a:spcBef>
                <a:spcPts val="300"/>
              </a:spcBef>
              <a:defRPr sz="850" b="1">
                <a:solidFill>
                  <a:srgbClr val="475569"/>
                </a:solidFill>
                <a:latin typeface="Arial"/>
              </a:defRPr>
            </a:pPr>
            <a:r>
              <a:t>• Expected Visual: </a:t>
            </a:r>
            <a:r>
              <a:rPr b="0">
                <a:solidFill>
                  <a:srgbClr val="1E293B"/>
                </a:solidFill>
              </a:rPr>
              <a:t>Displays 6 green checkmarks resolving all capstone questions. Team concludes presentation on schedule (9:45) and opens floor for evaluator and professor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